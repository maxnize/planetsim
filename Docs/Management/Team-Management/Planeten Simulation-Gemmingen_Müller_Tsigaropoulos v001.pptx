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3" r:id="rId4"/>
  </p:sldMasterIdLst>
  <p:notesMasterIdLst>
    <p:notesMasterId r:id="rId7"/>
  </p:notesMasterIdLst>
  <p:handoutMasterIdLst>
    <p:handoutMasterId r:id="rId8"/>
  </p:handoutMasterIdLst>
  <p:sldIdLst>
    <p:sldId id="475" r:id="rId5"/>
    <p:sldId id="474" r:id="rId6"/>
  </p:sldIdLst>
  <p:sldSz cx="12192000" cy="6858000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vadis Hochschule" id="{AB952574-F675-4944-B3F3-7BEAB08C57B3}">
          <p14:sldIdLst>
            <p14:sldId id="475"/>
            <p14:sldId id="474"/>
          </p14:sldIdLst>
        </p14:section>
      </p14:sectionLst>
    </p:ext>
    <p:ext uri="{EFAFB233-063F-42B5-8137-9DF3F51BA10A}">
      <p15:sldGuideLst xmlns:p15="http://schemas.microsoft.com/office/powerpoint/2012/main">
        <p15:guide id="2" pos="7566" userDrawn="1">
          <p15:clr>
            <a:srgbClr val="A4A3A4"/>
          </p15:clr>
        </p15:guide>
        <p15:guide id="10" pos="121" userDrawn="1">
          <p15:clr>
            <a:srgbClr val="A4A3A4"/>
          </p15:clr>
        </p15:guide>
        <p15:guide id="11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ew, Kirsten, Provadis-Hochschule" initials="LKP" lastIdx="90" clrIdx="0">
    <p:extLst>
      <p:ext uri="{19B8F6BF-5375-455C-9EA6-DF929625EA0E}">
        <p15:presenceInfo xmlns:p15="http://schemas.microsoft.com/office/powerpoint/2012/main" userId="Loew, Kirsten, Provadis-Hochschule" providerId="None"/>
      </p:ext>
    </p:extLst>
  </p:cmAuthor>
  <p:cmAuthor id="2" name="Stefan Wolf" initials="SW" lastIdx="1" clrIdx="1">
    <p:extLst>
      <p:ext uri="{19B8F6BF-5375-455C-9EA6-DF929625EA0E}">
        <p15:presenceInfo xmlns:p15="http://schemas.microsoft.com/office/powerpoint/2012/main" userId="3043b046db7717f7" providerId="Windows Live"/>
      </p:ext>
    </p:extLst>
  </p:cmAuthor>
  <p:cmAuthor id="3" name="Mirgeler, Melanie, Provadis-Hochschule" initials="MMP" lastIdx="12" clrIdx="2">
    <p:extLst>
      <p:ext uri="{19B8F6BF-5375-455C-9EA6-DF929625EA0E}">
        <p15:presenceInfo xmlns:p15="http://schemas.microsoft.com/office/powerpoint/2012/main" userId="Mirgeler, Melanie, Provadis-Hochschu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93"/>
    <a:srgbClr val="093A80"/>
    <a:srgbClr val="4D97CD"/>
    <a:srgbClr val="3B96FB"/>
    <a:srgbClr val="92D6AF"/>
    <a:srgbClr val="F49D5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7384" autoAdjust="0"/>
  </p:normalViewPr>
  <p:slideViewPr>
    <p:cSldViewPr snapToGrid="0">
      <p:cViewPr varScale="1">
        <p:scale>
          <a:sx n="103" d="100"/>
          <a:sy n="103" d="100"/>
        </p:scale>
        <p:origin x="852" y="108"/>
      </p:cViewPr>
      <p:guideLst>
        <p:guide pos="7566"/>
        <p:guide pos="121"/>
        <p:guide orient="horz" pos="2160"/>
      </p:guideLst>
    </p:cSldViewPr>
  </p:slideViewPr>
  <p:outlineViewPr>
    <p:cViewPr>
      <p:scale>
        <a:sx n="33" d="100"/>
        <a:sy n="33" d="100"/>
      </p:scale>
      <p:origin x="0" y="-48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-3432" y="-84"/>
      </p:cViewPr>
      <p:guideLst>
        <p:guide orient="horz" pos="312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72547" cy="496888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4" y="0"/>
            <a:ext cx="2972547" cy="496888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r">
              <a:defRPr sz="1200"/>
            </a:lvl1pPr>
          </a:lstStyle>
          <a:p>
            <a:fld id="{7AF3FCCA-35CB-4317-AD2D-0EF6E5142817}" type="datetimeFigureOut">
              <a:rPr lang="de-DE" smtClean="0"/>
              <a:t>15.04.2026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9428165"/>
            <a:ext cx="2972547" cy="496887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4" y="9428165"/>
            <a:ext cx="2972547" cy="496887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r">
              <a:defRPr sz="1200"/>
            </a:lvl1pPr>
          </a:lstStyle>
          <a:p>
            <a:fld id="{15F5D813-7E56-4B27-B93F-B28C7F9AE5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812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650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1" y="4715153"/>
            <a:ext cx="548640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718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28583"/>
            <a:ext cx="29718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02C877B-CF75-436B-81C8-2813BB8FF6C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1545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1231394-6B0F-174E-B54B-8AC351CF3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600" y="1205999"/>
            <a:ext cx="11818800" cy="5472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3" name="Titel 1"/>
          <p:cNvSpPr>
            <a:spLocks noGrp="1"/>
          </p:cNvSpPr>
          <p:nvPr>
            <p:ph type="ctrTitle" hasCustomPrompt="1"/>
          </p:nvPr>
        </p:nvSpPr>
        <p:spPr>
          <a:xfrm>
            <a:off x="186600" y="5597999"/>
            <a:ext cx="6480000" cy="1080000"/>
          </a:xfrm>
          <a:prstGeom prst="rect">
            <a:avLst/>
          </a:prstGeom>
          <a:solidFill>
            <a:schemeClr val="accent1"/>
          </a:solidFill>
        </p:spPr>
        <p:txBody>
          <a:bodyPr lIns="180000" tIns="72000" rIns="360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defRPr sz="22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Präsentation, der maximal über zwei Zeilen gehen sollte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A2FD935-4A52-7B4C-8B55-7A225C9213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599" y="5237999"/>
            <a:ext cx="6480000" cy="360000"/>
          </a:xfrm>
          <a:solidFill>
            <a:schemeClr val="accent3"/>
          </a:solidFill>
        </p:spPr>
        <p:txBody>
          <a:bodyPr lIns="180000" anchor="ctr" anchorCtr="0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algn="just"/>
            <a:r>
              <a:rPr lang="de-DE" dirty="0"/>
              <a:t>Dr. </a:t>
            </a:r>
            <a:r>
              <a:rPr lang="de-DE"/>
              <a:t>Olaf Grebner</a:t>
            </a:r>
            <a:endParaRPr lang="de-DE" dirty="0"/>
          </a:p>
        </p:txBody>
      </p:sp>
      <p:sp>
        <p:nvSpPr>
          <p:cNvPr id="6" name="Foliennummernplatzhalter 17">
            <a:extLst>
              <a:ext uri="{FF2B5EF4-FFF2-40B4-BE49-F238E27FC236}">
                <a16:creationId xmlns:a16="http://schemas.microsoft.com/office/drawing/2014/main" id="{99D1F4CB-5A33-493B-A445-CCB8B778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2" name="Grafik 5">
            <a:extLst>
              <a:ext uri="{FF2B5EF4-FFF2-40B4-BE49-F238E27FC236}">
                <a16:creationId xmlns:a16="http://schemas.microsoft.com/office/drawing/2014/main" id="{10DDC30A-FA9B-807D-671D-B970C4DC7D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50000" y="347594"/>
            <a:ext cx="1911600" cy="689341"/>
          </a:xfrm>
          <a:prstGeom prst="rect">
            <a:avLst/>
          </a:prstGeom>
        </p:spPr>
      </p:pic>
      <p:pic>
        <p:nvPicPr>
          <p:cNvPr id="4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B658C70F-FE10-49EA-3FD9-BBA3EB0021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5775" y="6108769"/>
            <a:ext cx="1605825" cy="452843"/>
          </a:xfrm>
          <a:prstGeom prst="rect">
            <a:avLst/>
          </a:prstGeom>
        </p:spPr>
      </p:pic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5C4FD1D-5462-9FB6-87BA-D963D0794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55352F66-4B47-C5B5-A109-5E0EF5AB5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15.04.2026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3979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28">
            <a:extLst>
              <a:ext uri="{FF2B5EF4-FFF2-40B4-BE49-F238E27FC236}">
                <a16:creationId xmlns:a16="http://schemas.microsoft.com/office/drawing/2014/main" id="{76734BBE-3377-4F0F-BAAE-38F8F4B1E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10" r="2310"/>
          <a:stretch/>
        </p:blipFill>
        <p:spPr>
          <a:xfrm>
            <a:off x="186600" y="1205999"/>
            <a:ext cx="11818800" cy="5472000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0" y="1440000"/>
            <a:ext cx="11101138" cy="4500000"/>
          </a:xfrm>
          <a:prstGeom prst="rect">
            <a:avLst/>
          </a:prstGeom>
        </p:spPr>
        <p:txBody>
          <a:bodyPr/>
          <a:lstStyle>
            <a:lvl1pPr marL="19050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 b="0"/>
            </a:lvl1pPr>
            <a:lvl2pPr marL="376238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/>
            </a:lvl2pPr>
            <a:lvl3pPr marL="565150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/>
            </a:lvl3pPr>
          </a:lstStyle>
          <a:p>
            <a:pPr marL="190500" lvl="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Klicken Sie, um den Text einzugeben</a:t>
            </a:r>
          </a:p>
          <a:p>
            <a:pPr marL="376238" lvl="1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Zweite Ebene</a:t>
            </a:r>
          </a:p>
          <a:p>
            <a:pPr marL="565150" lvl="2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Dritte Ebene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540000" y="504000"/>
            <a:ext cx="8251200" cy="5652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5" name="Foliennummernplatzhalter 17"/>
          <p:cNvSpPr>
            <a:spLocks noGrp="1"/>
          </p:cNvSpPr>
          <p:nvPr>
            <p:ph type="sldNum" sz="quarter" idx="11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FC7C295F-6DDF-401A-AA5F-1070F702C5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5775" y="6108769"/>
            <a:ext cx="1605825" cy="452843"/>
          </a:xfrm>
          <a:prstGeom prst="rect">
            <a:avLst/>
          </a:prstGeom>
        </p:spPr>
      </p:pic>
      <p:pic>
        <p:nvPicPr>
          <p:cNvPr id="2" name="Grafik 5">
            <a:extLst>
              <a:ext uri="{FF2B5EF4-FFF2-40B4-BE49-F238E27FC236}">
                <a16:creationId xmlns:a16="http://schemas.microsoft.com/office/drawing/2014/main" id="{5326F7F0-D277-6045-F8E0-A25AFC2A4F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750000" y="347594"/>
            <a:ext cx="1911600" cy="689341"/>
          </a:xfrm>
          <a:prstGeom prst="rect">
            <a:avLst/>
          </a:prstGeom>
        </p:spPr>
      </p:pic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CACBC5D4-53B5-C35A-99DA-E19CD1896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E13D9BB2-7278-0C66-1309-79F66AD85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15.04.2026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7998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0" y="1440000"/>
            <a:ext cx="11101138" cy="4500000"/>
          </a:xfrm>
          <a:prstGeom prst="rect">
            <a:avLst/>
          </a:prstGeom>
        </p:spPr>
        <p:txBody>
          <a:bodyPr/>
          <a:lstStyle>
            <a:lvl1pPr marL="19050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 b="0"/>
            </a:lvl1pPr>
            <a:lvl2pPr marL="376238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/>
            </a:lvl2pPr>
            <a:lvl3pPr marL="565150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/>
            </a:lvl3pPr>
          </a:lstStyle>
          <a:p>
            <a:pPr marL="190500" lvl="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Klicken Sie, um den Text einzugeben</a:t>
            </a:r>
          </a:p>
          <a:p>
            <a:pPr marL="376238" lvl="1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Zweite Ebene</a:t>
            </a:r>
          </a:p>
          <a:p>
            <a:pPr marL="565150" lvl="2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Dritte Ebene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540000" y="504000"/>
            <a:ext cx="8251200" cy="5652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5" name="Foliennummernplatzhalter 17"/>
          <p:cNvSpPr>
            <a:spLocks noGrp="1"/>
          </p:cNvSpPr>
          <p:nvPr>
            <p:ph type="sldNum" sz="quarter" idx="11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FC7C295F-6DDF-401A-AA5F-1070F702C5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5775" y="6108769"/>
            <a:ext cx="1605825" cy="452843"/>
          </a:xfrm>
          <a:prstGeom prst="rect">
            <a:avLst/>
          </a:prstGeom>
        </p:spPr>
      </p:pic>
      <p:pic>
        <p:nvPicPr>
          <p:cNvPr id="2" name="Grafik 5">
            <a:extLst>
              <a:ext uri="{FF2B5EF4-FFF2-40B4-BE49-F238E27FC236}">
                <a16:creationId xmlns:a16="http://schemas.microsoft.com/office/drawing/2014/main" id="{B2FBBDB7-B074-B85A-AEA1-8B91CA0400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750000" y="347594"/>
            <a:ext cx="1911600" cy="689341"/>
          </a:xfrm>
          <a:prstGeom prst="rect">
            <a:avLst/>
          </a:prstGeom>
        </p:spPr>
      </p:pic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B2137CDC-4ED5-1145-AE7A-669F04FB9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EC47AC6E-9EAB-58CA-FEAE-4F5300728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15.04.2026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0933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1231394-6B0F-174E-B54B-8AC351CF3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600" y="1205999"/>
            <a:ext cx="11818800" cy="5472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205CB4C-4920-E74B-AE2B-A9D505F0E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3999"/>
            <a:ext cx="8280000" cy="540000"/>
          </a:xfrm>
        </p:spPr>
        <p:txBody>
          <a:bodyPr lIns="0" tIns="0" rIns="0" bIns="0">
            <a:sp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Foliennummernplatzhalter 17">
            <a:extLst>
              <a:ext uri="{FF2B5EF4-FFF2-40B4-BE49-F238E27FC236}">
                <a16:creationId xmlns:a16="http://schemas.microsoft.com/office/drawing/2014/main" id="{DA3E44ED-C151-49E8-BE3D-8F62F73D60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2" name="Grafik 5">
            <a:extLst>
              <a:ext uri="{FF2B5EF4-FFF2-40B4-BE49-F238E27FC236}">
                <a16:creationId xmlns:a16="http://schemas.microsoft.com/office/drawing/2014/main" id="{55B230F3-87AC-9FC3-35A2-2D0494A2AC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50000" y="347594"/>
            <a:ext cx="1911600" cy="689341"/>
          </a:xfrm>
          <a:prstGeom prst="rect">
            <a:avLst/>
          </a:prstGeom>
        </p:spPr>
      </p:pic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8F43CBB4-0A38-C922-5F00-B9DCBA25C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3124FF11-C115-E2A9-7B37-E3D9338D6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15.04.2026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912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641794"/>
            <a:ext cx="10039350" cy="276999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F71EDADD-C113-4087-885D-485C97AD50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350" y="1030048"/>
            <a:ext cx="11934825" cy="3068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4BFFD-ECB7-7856-1C21-FCC51DB8B59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4" name="Grafik 5">
            <a:extLst>
              <a:ext uri="{FF2B5EF4-FFF2-40B4-BE49-F238E27FC236}">
                <a16:creationId xmlns:a16="http://schemas.microsoft.com/office/drawing/2014/main" id="{9792676E-BED7-1940-4388-E3351FF517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1200" y="275108"/>
            <a:ext cx="1448625" cy="522388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0A8E1950-3AB4-29AC-C99C-D0118B170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5785D47B-D497-9891-82B8-5CADE2825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15.04.2026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716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  <a:prstGeom prst="rect">
            <a:avLst/>
          </a:prstGeom>
        </p:spPr>
        <p:txBody>
          <a:bodyPr anchor="t"/>
          <a:lstStyle>
            <a:lvl1pPr algn="l">
              <a:defRPr sz="4000" b="1" i="0" cap="all">
                <a:latin typeface="+mj-lt"/>
                <a:cs typeface="Helvetica Neue Ligh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+mn-lt"/>
                <a:cs typeface="Helvetica Neue Ligh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782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17">
            <a:extLst>
              <a:ext uri="{FF2B5EF4-FFF2-40B4-BE49-F238E27FC236}">
                <a16:creationId xmlns:a16="http://schemas.microsoft.com/office/drawing/2014/main" id="{AAFB7994-6409-4D8D-9D30-8D2FD0481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27BF687C-53CE-4E4E-9D20-6D21DF78A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15.04.2026</a:t>
            </a:fld>
            <a:endParaRPr lang="de-DE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9EF00B0-D653-41C3-B8AA-F1CA70F39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503999"/>
            <a:ext cx="8280000" cy="54000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Titel der Folie eingeben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440000"/>
            <a:ext cx="11124000" cy="45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90500" lvl="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Klicken Sie, um den Text einzugeben Zweite Ebene</a:t>
            </a:r>
          </a:p>
          <a:p>
            <a:pPr marL="376238" lvl="1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Zweite Ebene</a:t>
            </a:r>
          </a:p>
          <a:p>
            <a:pPr marL="565150" lvl="2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Dritte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5" r:id="rId2"/>
    <p:sldLayoutId id="2147483736" r:id="rId3"/>
    <p:sldLayoutId id="2147483731" r:id="rId4"/>
    <p:sldLayoutId id="2147483737" r:id="rId5"/>
    <p:sldLayoutId id="2147483738" r:id="rId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de-DE" sz="1800" b="1" kern="1200" dirty="0" smtClean="0">
          <a:solidFill>
            <a:srgbClr val="093A8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de-DE" sz="1600" b="0" kern="1200" dirty="0" smtClean="0">
          <a:solidFill>
            <a:srgbClr val="093A8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None/>
        <a:defRPr lang="de-DE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de-DE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0B80-E2BA-8924-9B0E-F3E95175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[Planeten Simulation] – 1/2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2D281-5760-6CDF-FAC6-C8F9A0D2FD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Vorschlag Thema – Alternative Prüfungsleistung – Fortgeschrittene Programmierung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8D056-5934-38A9-91B0-8D63DDC5C0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1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49134-47CD-CEC7-2761-AD9F99708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Prof. Dr. Olaf Grebner</a:t>
            </a:r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DC6E9E-FAF6-CBAB-EC13-1F1BF521A14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CB5C92-5ED5-B843-8E0E-A263F53BC698}" type="datetime1">
              <a:rPr lang="de-DE" smtClean="0"/>
              <a:pPr/>
              <a:t>15.04.2026</a:t>
            </a:fld>
            <a:endParaRPr lang="de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4833A3-3865-C2CD-E9D6-46068579249A}"/>
              </a:ext>
            </a:extLst>
          </p:cNvPr>
          <p:cNvSpPr txBox="1"/>
          <p:nvPr/>
        </p:nvSpPr>
        <p:spPr>
          <a:xfrm>
            <a:off x="6209030" y="1444526"/>
            <a:ext cx="56920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Teammitglieder</a:t>
            </a:r>
          </a:p>
          <a:p>
            <a:r>
              <a:rPr lang="en-GB" sz="1400" dirty="0"/>
              <a:t> - </a:t>
            </a:r>
            <a:r>
              <a:rPr lang="de-DE" sz="1400" dirty="0"/>
              <a:t>Maximilian Müller</a:t>
            </a:r>
            <a:endParaRPr lang="de-DE" sz="1400" b="1" dirty="0"/>
          </a:p>
          <a:p>
            <a:r>
              <a:rPr lang="en-GB" sz="1400" dirty="0"/>
              <a:t> - </a:t>
            </a:r>
            <a:r>
              <a:rPr lang="de-DE" sz="1400" dirty="0"/>
              <a:t>Dimitrios Tsigaropoulos</a:t>
            </a:r>
          </a:p>
          <a:p>
            <a:r>
              <a:rPr lang="en-GB" sz="1400" dirty="0"/>
              <a:t> - </a:t>
            </a:r>
            <a:r>
              <a:rPr lang="de-DE" sz="1400" dirty="0"/>
              <a:t>Fabian </a:t>
            </a:r>
            <a:r>
              <a:rPr lang="de-DE" sz="1400" dirty="0" err="1"/>
              <a:t>Gemming</a:t>
            </a:r>
            <a:r>
              <a:rPr lang="de-DE" sz="1400" dirty="0"/>
              <a:t> </a:t>
            </a:r>
            <a:endParaRPr lang="de-DE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B71AB2-88D8-0A62-3F49-603E54B7A9D8}"/>
              </a:ext>
            </a:extLst>
          </p:cNvPr>
          <p:cNvSpPr txBox="1"/>
          <p:nvPr/>
        </p:nvSpPr>
        <p:spPr>
          <a:xfrm>
            <a:off x="133350" y="4478258"/>
            <a:ext cx="56920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Lösung – </a:t>
            </a:r>
            <a:r>
              <a:rPr lang="en-GB" sz="1400" b="1" dirty="0" err="1"/>
              <a:t>Fachliche</a:t>
            </a:r>
            <a:r>
              <a:rPr lang="en-GB" sz="1400" b="1" dirty="0"/>
              <a:t> Idee </a:t>
            </a:r>
          </a:p>
          <a:p>
            <a:r>
              <a:rPr lang="de-DE" sz="1200" dirty="0"/>
              <a:t>Wir bauen eine hoch performante 2D Web-Simulation für zwei Planeten, die es Schülern ermöglicht, interaktiv und flüssig Planetenkonstellationen im Browser zu erforschen</a:t>
            </a:r>
            <a:r>
              <a:rPr lang="de-DE" sz="1400" dirty="0"/>
              <a:t>. </a:t>
            </a:r>
            <a:r>
              <a:rPr lang="de-DE" sz="1200" dirty="0"/>
              <a:t>(Sollten Kapazitäten übrigbleiben </a:t>
            </a:r>
            <a:r>
              <a:rPr lang="de-DE" sz="1200" dirty="0">
                <a:sym typeface="Wingdings" panose="05000000000000000000" pitchFamily="2" charset="2"/>
              </a:rPr>
              <a:t> hinarbeiten zum Sandbox-Modus)</a:t>
            </a:r>
            <a:br>
              <a:rPr lang="en-GB" sz="1400" i="1" dirty="0"/>
            </a:br>
            <a:br>
              <a:rPr lang="en-GB" sz="1400" i="1" dirty="0"/>
            </a:br>
            <a:r>
              <a:rPr lang="de-DE" sz="1400" dirty="0"/>
              <a:t>Lösungsidee (falls vorhanden)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Eine interaktive Sandbox, in der Himmelskörper platziert werden können.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Echtzeit-Berechnung der Gravitationsvektoren mittels 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Nahtlose Integration der Berechnungslogik in eine moderne Web-Oberfläche via WASM.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0B886-CA18-6028-ACC4-A5B9C6E3BC98}"/>
              </a:ext>
            </a:extLst>
          </p:cNvPr>
          <p:cNvSpPr txBox="1"/>
          <p:nvPr/>
        </p:nvSpPr>
        <p:spPr>
          <a:xfrm>
            <a:off x="133350" y="1444526"/>
            <a:ext cx="569209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Nutzer, Prozess, Pain &amp; Kontext</a:t>
            </a:r>
            <a:endParaRPr lang="de-DE" sz="1400" dirty="0"/>
          </a:p>
          <a:p>
            <a:endParaRPr lang="de-DE" sz="1400" dirty="0"/>
          </a:p>
          <a:p>
            <a:r>
              <a:rPr lang="de-DE" sz="1400" dirty="0"/>
              <a:t>Nutzer-Segment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Schüler und Studierende im MINT-Bereich (Physik/Astronomie).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Hobby-Astronomen und Physik-Interessierte.</a:t>
            </a:r>
          </a:p>
          <a:p>
            <a:endParaRPr lang="de-DE" sz="1400" dirty="0"/>
          </a:p>
          <a:p>
            <a:r>
              <a:rPr lang="de-DE" sz="1400" dirty="0"/>
              <a:t>Prozess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Experimentieren mit physikalischen Parametern (Masse und Abstand) (alles in 2D)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Visualisierung von Gravitationskräften und Planetenbahnen.</a:t>
            </a:r>
            <a:br>
              <a:rPr lang="de-DE" sz="1400" dirty="0"/>
            </a:br>
            <a:br>
              <a:rPr lang="de-DE" sz="1400" b="1" dirty="0"/>
            </a:br>
            <a:r>
              <a:rPr lang="de-DE" sz="1400" dirty="0"/>
              <a:t>Nutzer‑Pain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Bestehende Web-Simulationen sind oft langsam oder ruckelig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Mangelnde Präzision bei komplexen Berechnungen in reinem JavaScript.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12F60D-FE07-0610-4BD3-EEBA2AFBF033}"/>
              </a:ext>
            </a:extLst>
          </p:cNvPr>
          <p:cNvSpPr txBox="1"/>
          <p:nvPr/>
        </p:nvSpPr>
        <p:spPr>
          <a:xfrm>
            <a:off x="6209030" y="2647743"/>
            <a:ext cx="56920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Softwareprodukt/-projekt</a:t>
            </a:r>
            <a:endParaRPr lang="de-DE" sz="1400" dirty="0"/>
          </a:p>
          <a:p>
            <a:r>
              <a:rPr lang="de-DE" sz="1400" dirty="0"/>
              <a:t>Produkt / Projekt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2-Body-Simulation</a:t>
            </a:r>
            <a:r>
              <a:rPr lang="de-DE" sz="1200" dirty="0"/>
              <a:t>: Berechnung der Interaktion zwischen 2 Körpern.</a:t>
            </a:r>
          </a:p>
          <a:p>
            <a:r>
              <a:rPr lang="de-DE" sz="1200" dirty="0">
                <a:sym typeface="Wingdings" panose="05000000000000000000" pitchFamily="2" charset="2"/>
              </a:rPr>
              <a:t> (wenn Kapazität übrig ist) </a:t>
            </a:r>
            <a:r>
              <a:rPr lang="de-DE" sz="1200" b="1" dirty="0"/>
              <a:t>Sandbox-Mode</a:t>
            </a:r>
            <a:r>
              <a:rPr lang="de-DE" sz="1200" dirty="0"/>
              <a:t>: Hinzufügen/Entfernen von Planeten per Mausklick.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Parameter-Steuerung</a:t>
            </a:r>
            <a:r>
              <a:rPr lang="de-DE" sz="1200" dirty="0"/>
              <a:t>: Echtzeit-Anpassung von Masse und Zeitfluss.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Visualisierung</a:t>
            </a:r>
            <a:r>
              <a:rPr lang="de-DE" sz="1200" dirty="0"/>
              <a:t>: Anzeige von Trajektorien (Bahnen). (Wenn Kapazität übrig ist)</a:t>
            </a:r>
          </a:p>
          <a:p>
            <a:endParaRPr lang="de-DE" sz="1400" dirty="0"/>
          </a:p>
          <a:p>
            <a:r>
              <a:rPr lang="de-DE" sz="1400" dirty="0"/>
              <a:t>Integration Web-Anwendung &amp; Systemnahe Programmierung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Rust-Backend wird als .</a:t>
            </a:r>
            <a:r>
              <a:rPr lang="de-DE" sz="1200" dirty="0" err="1"/>
              <a:t>wasm</a:t>
            </a:r>
            <a:r>
              <a:rPr lang="de-DE" sz="1200" dirty="0"/>
              <a:t> Modul kompiliert.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JavaScript/</a:t>
            </a:r>
            <a:r>
              <a:rPr lang="de-DE" sz="1200" dirty="0" err="1"/>
              <a:t>TypeScript</a:t>
            </a:r>
            <a:r>
              <a:rPr lang="de-DE" sz="1200" dirty="0"/>
              <a:t> übernimmt das DOM-Handling und die UI (Buttons, Slider).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Kommunikation über einen </a:t>
            </a:r>
            <a:r>
              <a:rPr lang="de-DE" sz="1200" dirty="0" err="1"/>
              <a:t>Shared</a:t>
            </a:r>
            <a:r>
              <a:rPr lang="de-DE" sz="1200" dirty="0"/>
              <a:t> Memory Buffer</a:t>
            </a:r>
          </a:p>
          <a:p>
            <a:endParaRPr lang="de-DE" sz="1400" dirty="0"/>
          </a:p>
          <a:p>
            <a:r>
              <a:rPr lang="de-DE" sz="1400" dirty="0"/>
              <a:t>Softwareeigenschaften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Präzision:</a:t>
            </a:r>
            <a:r>
              <a:rPr lang="de-DE" sz="1200" dirty="0"/>
              <a:t> Nutzung von 64-Bit </a:t>
            </a:r>
            <a:r>
              <a:rPr lang="de-DE" sz="1200" dirty="0" err="1"/>
              <a:t>Floats</a:t>
            </a:r>
            <a:r>
              <a:rPr lang="de-DE" sz="1200" dirty="0"/>
              <a:t> für physikalische Genauigkeit.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Portabilität:</a:t>
            </a:r>
            <a:r>
              <a:rPr lang="de-DE" sz="1200" dirty="0"/>
              <a:t> Läuft in jedem modernen Browser ohne Installation.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Skalierbarkeit:</a:t>
            </a:r>
            <a:r>
              <a:rPr lang="de-DE" sz="1200" dirty="0"/>
              <a:t> Architektur erlaubt spätere Erweiterung (z.B. Kollisionserkennung).</a:t>
            </a:r>
          </a:p>
        </p:txBody>
      </p:sp>
    </p:spTree>
    <p:extLst>
      <p:ext uri="{BB962C8B-B14F-4D97-AF65-F5344CB8AC3E}">
        <p14:creationId xmlns:p14="http://schemas.microsoft.com/office/powerpoint/2010/main" val="253059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B84E-4D92-DBF5-CCCF-22960806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[#</a:t>
            </a:r>
            <a:r>
              <a:rPr lang="de-DE" dirty="0" err="1"/>
              <a:t>Projektitel</a:t>
            </a:r>
            <a:r>
              <a:rPr lang="de-DE" dirty="0"/>
              <a:t>] – 2/2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0997E-65B3-C7F9-E6A8-3B9D4A3CC1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Vorschlag Thema – Alternative Prüfungsleistung – Fortgeschrittene Programmierung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9F71E-49BC-CA99-E89D-C6C7035FF7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2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2513E-8924-D5F3-10E3-D790CE397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Prof. Dr. Olaf Grebner</a:t>
            </a:r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620732-1084-1A86-3C17-4B5F59B8D63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CB5C92-5ED5-B843-8E0E-A263F53BC698}" type="datetime1">
              <a:rPr lang="de-DE" smtClean="0"/>
              <a:pPr/>
              <a:t>15.04.2026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28956A-FC50-7916-CB8E-8D0519DEFB4B}"/>
              </a:ext>
            </a:extLst>
          </p:cNvPr>
          <p:cNvSpPr txBox="1"/>
          <p:nvPr/>
        </p:nvSpPr>
        <p:spPr>
          <a:xfrm>
            <a:off x="143624" y="1588160"/>
            <a:ext cx="5692097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Fokus Web-Anwendung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Canvas-API oder </a:t>
            </a:r>
            <a:r>
              <a:rPr lang="de-DE" sz="1200" dirty="0" err="1"/>
              <a:t>WebGL</a:t>
            </a:r>
            <a:r>
              <a:rPr lang="de-DE" sz="1200" dirty="0"/>
              <a:t> zur flüssigen Darstellung der berechneten Daten.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State-Management zur Synchronisation zwischen UI und WASM-Instanz.</a:t>
            </a:r>
          </a:p>
          <a:p>
            <a:endParaRPr lang="de-DE" sz="1400" b="1" dirty="0"/>
          </a:p>
          <a:p>
            <a:r>
              <a:rPr lang="de-DE" sz="1400" b="1" dirty="0"/>
              <a:t># Fokus Systemnahe Programmierung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Mathematische Modellierung der Gravitation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Effizientes Speichermanagement in 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Optimierung der Berechnungsschleifen (Iteratoren, ggf. SIMD).</a:t>
            </a:r>
          </a:p>
          <a:p>
            <a:endParaRPr lang="de-DE" sz="1400" dirty="0"/>
          </a:p>
          <a:p>
            <a:r>
              <a:rPr lang="de-DE" sz="1400" b="1" dirty="0"/>
              <a:t># Notwendigkeit für / Nutzen von systemnaher Programmierung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Rechenintensität:</a:t>
            </a:r>
            <a:r>
              <a:rPr lang="de-DE" sz="1200" dirty="0"/>
              <a:t> Newtonsche Mechanik erfordert bei vielen Objekten $O(n^2)$ Berechnungen pro Frame.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Vorhersagbarkeit:</a:t>
            </a:r>
            <a:r>
              <a:rPr lang="de-DE" sz="1200" dirty="0"/>
              <a:t> Vermeidung von "Jank" (Rucklern) durch JavaScripts </a:t>
            </a:r>
            <a:r>
              <a:rPr lang="de-DE" sz="1200" dirty="0" err="1"/>
              <a:t>Garbage</a:t>
            </a:r>
            <a:r>
              <a:rPr lang="de-DE" sz="1200" dirty="0"/>
              <a:t> </a:t>
            </a:r>
            <a:r>
              <a:rPr lang="de-DE" sz="1200" dirty="0" err="1"/>
              <a:t>Collector</a:t>
            </a:r>
            <a:r>
              <a:rPr lang="de-DE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Typsicherheit:</a:t>
            </a:r>
            <a:r>
              <a:rPr lang="de-DE" sz="1200" dirty="0"/>
              <a:t> Minimierung von Laufzeitfehlern bei komplexen mathematischen Operationen.</a:t>
            </a:r>
            <a:endParaRPr lang="de-DE" sz="1400" dirty="0"/>
          </a:p>
          <a:p>
            <a:endParaRPr lang="de-DE" sz="1400" dirty="0"/>
          </a:p>
          <a:p>
            <a:r>
              <a:rPr lang="en-DE" sz="1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# KI-driven Engineering &amp; Prozess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dirty="0" err="1"/>
              <a:t>Spec</a:t>
            </a:r>
            <a:r>
              <a:rPr lang="de-DE" sz="1200" b="1" dirty="0"/>
              <a:t>-Driven</a:t>
            </a:r>
            <a:r>
              <a:rPr lang="de-DE" sz="1200" dirty="0"/>
              <a:t>: </a:t>
            </a:r>
            <a:r>
              <a:rPr lang="de-DE" sz="1200" dirty="0" err="1"/>
              <a:t>Spec</a:t>
            </a:r>
            <a:r>
              <a:rPr lang="de-DE" sz="1200" dirty="0"/>
              <a:t> erstellen in Zusammenarbeit mit KI -&gt; Tests erstellen aus </a:t>
            </a:r>
            <a:r>
              <a:rPr lang="de-DE" sz="1200" dirty="0" err="1"/>
              <a:t>Spec</a:t>
            </a:r>
            <a:r>
              <a:rPr lang="de-DE" sz="1200" dirty="0"/>
              <a:t>  mit KI-&gt; Implementieren aus </a:t>
            </a:r>
            <a:r>
              <a:rPr lang="de-DE" sz="1200" dirty="0" err="1"/>
              <a:t>Spec</a:t>
            </a:r>
            <a:r>
              <a:rPr lang="de-DE" sz="1200" dirty="0"/>
              <a:t> mit KI -&gt; Tests ausführen und beheben mit KI -&gt; manuelles nachtesten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dirty="0"/>
              <a:t>Copilot-Pairing</a:t>
            </a:r>
            <a:r>
              <a:rPr lang="de-DE" sz="1200" dirty="0"/>
              <a:t>: Nutzung von KI zur Generierung von </a:t>
            </a:r>
            <a:r>
              <a:rPr lang="de-DE" sz="1200" dirty="0" err="1"/>
              <a:t>Boilerplate</a:t>
            </a:r>
            <a:r>
              <a:rPr lang="de-DE" sz="1200" dirty="0"/>
              <a:t> für die JS/Rust-Bridge (</a:t>
            </a:r>
            <a:r>
              <a:rPr lang="de-DE" sz="1200" dirty="0" err="1"/>
              <a:t>wasm-bindgen</a:t>
            </a:r>
            <a:r>
              <a:rPr lang="de-DE" sz="12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dirty="0"/>
              <a:t>Automatisierte Tests</a:t>
            </a:r>
            <a:r>
              <a:rPr lang="de-DE" sz="1200" dirty="0"/>
              <a:t>: KI-gestützte Erstellung von Unit-Tests für die Physik-Engine.</a:t>
            </a:r>
          </a:p>
          <a:p>
            <a:endParaRPr lang="de-D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C6F6A-BF05-A85A-D240-AEFEEDA2C3D4}"/>
              </a:ext>
            </a:extLst>
          </p:cNvPr>
          <p:cNvSpPr txBox="1"/>
          <p:nvPr/>
        </p:nvSpPr>
        <p:spPr>
          <a:xfrm>
            <a:off x="6209030" y="1613118"/>
            <a:ext cx="569209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Tech-Stack</a:t>
            </a:r>
          </a:p>
          <a:p>
            <a:endParaRPr lang="de-DE" sz="1400" dirty="0"/>
          </a:p>
          <a:p>
            <a:r>
              <a:rPr lang="de-DE" sz="1400" dirty="0"/>
              <a:t>-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HTML5 / CSS3 (</a:t>
            </a:r>
            <a:r>
              <a:rPr lang="de-DE" sz="1400" dirty="0" err="1"/>
              <a:t>Tailwind</a:t>
            </a:r>
            <a:r>
              <a:rPr lang="de-DE" sz="1400" dirty="0"/>
              <a:t> CSS für das Styling).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TypeScript</a:t>
            </a:r>
            <a:r>
              <a:rPr lang="de-DE" sz="1400" dirty="0"/>
              <a:t> (für typsichere UI-Logik).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Vite (als schneller </a:t>
            </a:r>
            <a:r>
              <a:rPr lang="de-DE" sz="1400" dirty="0" err="1"/>
              <a:t>Build</a:t>
            </a:r>
            <a:r>
              <a:rPr lang="de-DE" sz="1400" dirty="0"/>
              <a:t>-Tool).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Canvas API (für das Rendering).</a:t>
            </a:r>
          </a:p>
          <a:p>
            <a:endParaRPr lang="de-DE" sz="1400" dirty="0"/>
          </a:p>
          <a:p>
            <a:r>
              <a:rPr lang="de-DE" sz="1400" dirty="0"/>
              <a:t>- 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err="1"/>
              <a:t>wasm-bindgen</a:t>
            </a:r>
            <a:r>
              <a:rPr lang="de-DE" sz="1400" dirty="0"/>
              <a:t> (Kommunikation zwischen Rust und JS).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web-</a:t>
            </a:r>
            <a:r>
              <a:rPr lang="de-DE" sz="1400" b="1" dirty="0" err="1"/>
              <a:t>sys</a:t>
            </a:r>
            <a:r>
              <a:rPr lang="de-DE" sz="1400" dirty="0"/>
              <a:t> (Zugriff auf Web-APIs aus Rust).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err="1"/>
              <a:t>nalgebra</a:t>
            </a:r>
            <a:r>
              <a:rPr lang="de-DE" sz="1400" dirty="0"/>
              <a:t> oder </a:t>
            </a:r>
            <a:r>
              <a:rPr lang="de-DE" sz="1400" b="1" dirty="0" err="1"/>
              <a:t>cgmath</a:t>
            </a:r>
            <a:r>
              <a:rPr lang="de-DE" sz="1400" dirty="0"/>
              <a:t> (für effiziente Vektorrechnung).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err="1"/>
              <a:t>serde</a:t>
            </a:r>
            <a:r>
              <a:rPr lang="de-DE" sz="1400" dirty="0"/>
              <a:t> (für die Serialisierung von Konfigurationsdaten).</a:t>
            </a:r>
          </a:p>
          <a:p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374666007"/>
      </p:ext>
    </p:extLst>
  </p:cSld>
  <p:clrMapOvr>
    <a:masterClrMapping/>
  </p:clrMapOvr>
</p:sld>
</file>

<file path=ppt/theme/theme1.xml><?xml version="1.0" encoding="utf-8"?>
<a:theme xmlns:a="http://schemas.openxmlformats.org/drawingml/2006/main" name="Provadis B2B">
  <a:themeElements>
    <a:clrScheme name="Provadis B2B">
      <a:dk1>
        <a:srgbClr val="000000"/>
      </a:dk1>
      <a:lt1>
        <a:srgbClr val="FFFFFF"/>
      </a:lt1>
      <a:dk2>
        <a:srgbClr val="004893"/>
      </a:dk2>
      <a:lt2>
        <a:srgbClr val="EEECE1"/>
      </a:lt2>
      <a:accent1>
        <a:srgbClr val="004893"/>
      </a:accent1>
      <a:accent2>
        <a:srgbClr val="3474B5"/>
      </a:accent2>
      <a:accent3>
        <a:srgbClr val="4D97CD"/>
      </a:accent3>
      <a:accent4>
        <a:srgbClr val="5D9FCA"/>
      </a:accent4>
      <a:accent5>
        <a:srgbClr val="EA8E5A"/>
      </a:accent5>
      <a:accent6>
        <a:srgbClr val="60B991"/>
      </a:accent6>
      <a:hlink>
        <a:srgbClr val="005192"/>
      </a:hlink>
      <a:folHlink>
        <a:srgbClr val="800080"/>
      </a:folHlink>
    </a:clrScheme>
    <a:fontScheme name="Provad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master_Thinking Industry New Provadis Grebner.potx" id="{9F1121D9-2A63-824E-8BBE-298FE6F35158}" vid="{FDD42428-9B06-7C44-9662-B6E25D248117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0FEB6F1670E74E9961A6CF57331C0B" ma:contentTypeVersion="3" ma:contentTypeDescription="Create a new document." ma:contentTypeScope="" ma:versionID="08fa74778f1149099793aa40c2d9e5a5">
  <xsd:schema xmlns:xsd="http://www.w3.org/2001/XMLSchema" xmlns:xs="http://www.w3.org/2001/XMLSchema" xmlns:p="http://schemas.microsoft.com/office/2006/metadata/properties" xmlns:ns2="5b96d687-c330-47df-80ca-8932554742fd" targetNamespace="http://schemas.microsoft.com/office/2006/metadata/properties" ma:root="true" ma:fieldsID="7d1580388385da9f270516386594abba" ns2:_="">
    <xsd:import namespace="5b96d687-c330-47df-80ca-8932554742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96d687-c330-47df-80ca-8932554742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8E1C61-3DFC-474A-B1ED-A764C44D34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96d687-c330-47df-80ca-8932554742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826D18-0BC1-435C-A0F9-13612EDA3E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DC44DED-6E80-4D38-BF7B-1047907E16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Provadis B2B</Template>
  <TotalTime>0</TotalTime>
  <Words>544</Words>
  <Application>Microsoft Office PowerPoint</Application>
  <PresentationFormat>Breitbild</PresentationFormat>
  <Paragraphs>77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Arial</vt:lpstr>
      <vt:lpstr>Wingdings</vt:lpstr>
      <vt:lpstr>Provadis B2B</vt:lpstr>
      <vt:lpstr>[Planeten Simulation] – 1/2</vt:lpstr>
      <vt:lpstr>[#Projektitel] – 2/2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Olaf Grebner</dc:creator>
  <cp:lastModifiedBy>Tsigaropoulos, Dimitrios</cp:lastModifiedBy>
  <cp:revision>27</cp:revision>
  <dcterms:created xsi:type="dcterms:W3CDTF">2025-01-14T16:58:01Z</dcterms:created>
  <dcterms:modified xsi:type="dcterms:W3CDTF">2026-04-15T12:48:35Z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0x010100F30FEB6F1670E74E9961A6CF57331C0B</vt:lpwstr>
  </property>
</Properties>
</file>